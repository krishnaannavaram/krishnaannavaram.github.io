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88" r:id="rId11"/>
    <p:sldId id="269" r:id="rId12"/>
    <p:sldId id="270" r:id="rId13"/>
    <p:sldId id="289" r:id="rId14"/>
    <p:sldId id="271" r:id="rId15"/>
    <p:sldId id="286" r:id="rId16"/>
    <p:sldId id="290" r:id="rId17"/>
    <p:sldId id="291" r:id="rId18"/>
    <p:sldId id="292" r:id="rId19"/>
    <p:sldId id="272" r:id="rId20"/>
    <p:sldId id="273" r:id="rId21"/>
    <p:sldId id="26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51"/>
    <a:srgbClr val="007B3B"/>
    <a:srgbClr val="00713A"/>
    <a:srgbClr val="068817"/>
    <a:srgbClr val="079418"/>
    <a:srgbClr val="74C427"/>
    <a:srgbClr val="A6C44B"/>
    <a:srgbClr val="8AC4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33" autoAdjust="0"/>
    <p:restoredTop sz="94488"/>
  </p:normalViewPr>
  <p:slideViewPr>
    <p:cSldViewPr snapToGrid="0" snapToObjects="1">
      <p:cViewPr varScale="1">
        <p:scale>
          <a:sx n="93" d="100"/>
          <a:sy n="93" d="100"/>
        </p:scale>
        <p:origin x="10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F0A63-798F-4220-BDF6-4F2A310BE513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1ACC4-E66A-45E9-847A-A5289B82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53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B274-ECD9-6844-9790-21A98E226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1F342-481B-6046-AC35-EAEC74815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2C935-632D-5245-A926-94951C6C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EE86-343E-4E52-A9F2-5D2AFC375F8E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E5520-4DEB-FD4B-9F22-EB7C5152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256D7-680F-CB4B-B10E-1D6FFA76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C353-9FBE-5141-8529-377FCB0D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30843-08AB-CC45-97F8-99A8E27BA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64518-F3DB-A744-B69B-BF882A57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C5F76-5E10-4AEF-869E-0247C6F0D1CC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3B07-70E9-4A47-97A0-383E69C0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EBA83-4E92-6144-A2C2-531FEF598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F050-A008-D041-8679-9B7B4AD0D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1FC5-B68F-274C-BB41-EE6FC346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7DBC-D1BC-924F-AB42-F07F6E6CF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F169-01A6-4B1E-A47F-4A7155CB8565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AC5E-374F-1045-8258-855EA19F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5D3C0-ECB7-4049-B237-A50B432E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3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6DFC-FC76-AA41-A84C-F496755B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9D3A-21F0-4E40-8FC1-D9528CD43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1EB2C-1ECD-F74F-82EE-AE5338B30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E6951-1B67-AD49-8D4D-58FF99B6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5E048-CB7C-4B00-84F5-39B102FE9781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3D3E7-3115-F249-8615-5BB380A3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38C44-679D-054B-A50A-A5F49A6C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1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D8597-00D1-9C45-A992-045A3BCF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7F22F-BAD6-CA47-956E-3FEB21FD8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811C0-F7D6-D04A-8F95-C9184FC81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68642-809B-9844-B0DC-46C9DDE0D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5D80E5-D2D5-4947-934C-B181284E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3D0AF-54FC-304C-8CDD-8D6A25A1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A94CA-0C3F-4F76-B54A-E9C7F5256EFE}" type="datetime1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F3680-FC12-0948-B162-CF437700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586D9-BFB2-DB4B-B83A-08B31911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40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16FD0-4A21-B64D-8605-6DFE78A6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4D0E3-11DA-8245-88F0-87AC3D4C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42E04-E4B5-4DFB-A5EF-8521A604DB1B}" type="datetime1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F587B2-78B8-D540-ADCF-B3B99F7E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2A16A-DDA8-124B-9300-37B5CE13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8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55749-D3F6-5B40-B60A-AD6835E7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3E67E-64DB-4E54-A06D-62800F9BC7D1}" type="datetime1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328217-89D3-A345-901C-432A3E87E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D66D9-C338-AE44-BBDD-60CB783A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64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F945-51BE-8E41-A001-8556328E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31D16-F809-694B-8A56-EE18EDD3D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FB139-7CE6-4D46-9C0F-158A6D60C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B1C3C-1F82-DD4C-AC61-765315FA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154-5495-40C2-8C85-6AB210CA44DA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65035-F317-3C4F-BE6B-DBA53E9F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CEF8A-E308-904B-8554-2B093BA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06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AD82-5A17-3442-A391-EAC94984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51955-18A8-AC41-94B9-B2603FDF8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84506-8CF4-5B4E-B0B3-3B52DDCB0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8C3ED-FF8B-274F-9D47-0425A93E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67C89-03EF-4D28-9729-C96E9EEC51ED}" type="datetime1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9DCA7-07CA-7B42-989B-53A2AA26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F7C12-4324-B949-8183-E9B72EA4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FA28-CC45-F14D-ADC5-88A589FA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DB90E-8EE2-7442-BE25-64F438EED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B67D-8C42-0146-A757-97FBF60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CB42-DC1C-4C4F-8BF5-58C19F445211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E126A-6778-D041-A7E0-9E73492B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A5F1-74BE-7F4C-BAE9-5E0A2173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7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230DE2-B4E8-9542-A63A-021B23337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F23E2-9DA6-7745-8D21-1B6369356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D683C-E1FF-4F43-8D98-C271E6D7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7E0D-AFDA-459C-902A-77C930534CBF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0DC9B-8287-2E43-BFC8-208D4D3CB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2AD24-758C-044A-BF6A-2B1330BB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9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732FA-7F9B-6447-A218-D2AAD07F0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BFB8C-7133-5948-A11E-0C2B393F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C691-56B7-4549-B5F1-C735DF3E2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92BCB-8B05-4411-A8CB-9FBE5DB08B39}" type="datetime1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C477-BFEF-6A40-8A64-F22652C6F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B950F-F683-5649-A761-C180536A3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0F34E-4A79-A240-AEA8-3E29BB228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86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3AACC9-6128-D644-BB32-5E823AB3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445" y="1982512"/>
            <a:ext cx="3092980" cy="1037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850BB8E-98B9-0443-9518-BB0B496E8A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5A9FDE-E9C9-EC40-9ACD-E0B75041F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1187" y="3838208"/>
            <a:ext cx="5049625" cy="2669469"/>
          </a:xfrm>
        </p:spPr>
        <p:txBody>
          <a:bodyPr>
            <a:normAutofit/>
          </a:bodyPr>
          <a:lstStyle/>
          <a:p>
            <a:pPr>
              <a:spcBef>
                <a:spcPts val="1600"/>
              </a:spcBef>
            </a:pPr>
            <a:r>
              <a:rPr lang="en-US" sz="1600" dirty="0">
                <a:solidFill>
                  <a:schemeClr val="bg1"/>
                </a:solidFill>
              </a:rPr>
              <a:t>Group 3</a:t>
            </a:r>
          </a:p>
          <a:p>
            <a:pPr>
              <a:spcBef>
                <a:spcPts val="1600"/>
              </a:spcBef>
            </a:pPr>
            <a:r>
              <a:rPr lang="en-US" sz="1600" dirty="0">
                <a:solidFill>
                  <a:schemeClr val="bg1"/>
                </a:solidFill>
              </a:rPr>
              <a:t>Ramakrishna Reddy Kovvuri</a:t>
            </a:r>
          </a:p>
          <a:p>
            <a:pPr>
              <a:spcBef>
                <a:spcPts val="1600"/>
              </a:spcBef>
            </a:pPr>
            <a:r>
              <a:rPr lang="en-US" sz="1600" dirty="0">
                <a:solidFill>
                  <a:schemeClr val="bg1"/>
                </a:solidFill>
              </a:rPr>
              <a:t>Shravyasri Chelkala</a:t>
            </a:r>
          </a:p>
          <a:p>
            <a:pPr>
              <a:spcBef>
                <a:spcPts val="1600"/>
              </a:spcBef>
            </a:pPr>
            <a:r>
              <a:rPr lang="en-US" sz="1600" dirty="0">
                <a:solidFill>
                  <a:schemeClr val="bg1"/>
                </a:solidFill>
              </a:rPr>
              <a:t>Aravind Siddhanthi</a:t>
            </a:r>
          </a:p>
          <a:p>
            <a:pPr>
              <a:spcBef>
                <a:spcPts val="1600"/>
              </a:spcBef>
            </a:pPr>
            <a:r>
              <a:rPr lang="en-US" sz="1600" dirty="0">
                <a:solidFill>
                  <a:schemeClr val="bg1"/>
                </a:solidFill>
              </a:rPr>
              <a:t>Niharika Madhadi</a:t>
            </a:r>
          </a:p>
          <a:p>
            <a:pPr>
              <a:spcBef>
                <a:spcPts val="1600"/>
              </a:spcBef>
            </a:pPr>
            <a:r>
              <a:rPr lang="en-IN" sz="1600" b="0" i="0" dirty="0">
                <a:solidFill>
                  <a:schemeClr val="bg2"/>
                </a:solidFill>
                <a:effectLst/>
                <a:latin typeface="Monaco"/>
              </a:rPr>
              <a:t>DTSC5082.020</a:t>
            </a:r>
            <a:endParaRPr lang="en-US" sz="1600" dirty="0">
              <a:solidFill>
                <a:schemeClr val="bg2"/>
              </a:solidFill>
            </a:endParaRPr>
          </a:p>
          <a:p>
            <a:pPr>
              <a:spcBef>
                <a:spcPts val="1600"/>
              </a:spcBef>
            </a:pP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4D1D62-CFD6-D946-AAA1-A9E54335D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453" y="772134"/>
            <a:ext cx="2999092" cy="29990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150409-2749-4E4A-AEA0-DAA2D050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6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F09505-16A9-5F40-9BAF-3E022D3C2EAB}"/>
              </a:ext>
            </a:extLst>
          </p:cNvPr>
          <p:cNvSpPr/>
          <p:nvPr/>
        </p:nvSpPr>
        <p:spPr>
          <a:xfrm>
            <a:off x="0" y="1513211"/>
            <a:ext cx="12192000" cy="4005558"/>
          </a:xfrm>
          <a:prstGeom prst="rect">
            <a:avLst/>
          </a:prstGeom>
          <a:gradFill flip="none" rotWithShape="1">
            <a:gsLst>
              <a:gs pos="0">
                <a:srgbClr val="00A44E"/>
              </a:gs>
              <a:gs pos="100000">
                <a:srgbClr val="004A24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1086-1365-B942-BFE2-A2552509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194" y="2775476"/>
            <a:ext cx="7949901" cy="24304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dirty="0">
                <a:solidFill>
                  <a:schemeClr val="bg1"/>
                </a:solidFill>
              </a:rPr>
              <a:t>Enhancing Fake News Detection with Retrieval Augmented Generation (RAG) for Fact Verification in U.S. Political News 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C1D17-55AD-6C45-BF39-A59E65E2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B29CF7-7FFE-834F-A256-BC3C11FAF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92014-46C0-4B98-BCEF-92C15424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55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1086-1365-B942-BFE2-A2552509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algn="l">
              <a:buFont typeface="+mj-lt"/>
              <a:buAutoNum type="arabicPeriod"/>
            </a:pPr>
            <a:r>
              <a:rPr lang="en-US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17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  <a:p>
            <a:pPr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&amp; Collection Strategy</a:t>
            </a:r>
            <a:endParaRPr lang="en-US" sz="17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algn="l">
              <a:buFont typeface="+mj-lt"/>
              <a:buAutoNum type="arabicPeriod"/>
            </a:pPr>
            <a:r>
              <a:rPr lang="en-US" sz="17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sz="17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17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6D677-D81E-484B-BFB8-CF94D1CE1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B30FB0-FF45-D042-89A3-79367CD4E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7AD38CC-4F1C-48A1-AB51-7AEC9529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96B3D-642C-4784-AEDF-18C003365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7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41E4-F447-620D-475A-8308AAE5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91BA-75F4-C6D8-6D2D-481824F6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spreads 6x faster than factual information on social media</a:t>
            </a:r>
          </a:p>
          <a:p>
            <a:pPr marL="0" indent="0"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person encounters 50-100 potentially misleading news claims daily</a:t>
            </a:r>
          </a:p>
          <a:p>
            <a:pPr marL="0" indent="0"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fact-checking methods are labor-intensive and time-consuming</a:t>
            </a:r>
          </a:p>
          <a:p>
            <a:pPr marL="0" indent="0"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automated, AI-powered tools to help users verify information quickly</a:t>
            </a:r>
          </a:p>
          <a:p>
            <a:pPr marL="0" indent="0">
              <a:buNone/>
            </a:pPr>
            <a:endParaRPr lang="en-US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Empowering users to make informed decisions based on reliable news sources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A1CD6B-B3FE-D587-BEA9-89515DDC3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BC5573-2AC4-297B-F80E-EAC87B7BD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E585B50-04FC-DEC9-A6D8-3CF834F5C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</a:t>
            </a:r>
            <a:r>
              <a:rPr lang="en-US" sz="4400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endParaRPr lang="en-US" b="1" dirty="0">
              <a:solidFill>
                <a:srgbClr val="0794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90954-706D-156E-149C-88706B9E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FE51-1B46-87AC-992E-1CFCA054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DAB8B-76F8-6815-6373-16AFF952E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misinformation poses a major threat to democratic discourse and public opinion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Fact-checking political claims requires timely, source-grounded, and context-aware verification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fake news detection tools lack real-time data integration or transparency in how claims are verified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systems enhance fact verification by retrieving evidence from trusted sources before generating responses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using RAG + semantic search to create a chatbot that verifies U.S. political claims with real-time, explainable outputs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9836AC-B8E7-A1B8-80B7-F9246B00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E30A2F-EC04-E16C-24CA-7F3DA0B52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E541956-92CA-DD90-5C3D-9301F4409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b="1" dirty="0">
              <a:solidFill>
                <a:srgbClr val="07941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17B80-A354-1397-F224-E1F2CDF7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8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1653-F1F7-6C25-AA89-C56B1DFE4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32E79-B799-DB9D-72D6-F78A3BC44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challenge of information verification in an era of overwhelming news content.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search engines rely on keyword matching and popularity metrics, often failing to provide context-specific factual information.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News RAG Chatbot enables users to: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 custom database of fact-checked news articles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semantically relevant information rather than keyword matches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contextually appropriate responses grounded in verified sources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answers back to original sources for verification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maintain their own knowledge base of trusted information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99A671-5FB4-17BB-3A68-3A11C3DA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7A78AC-1FCE-4B5A-72E6-3A700C970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6409EC6-4098-FC86-DC74-98C7BAA9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248B0-5473-F008-7432-93A5BCF42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66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DF3D-86F8-521C-0743-CABE91DB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A31B1-3752-E096-0141-BA307DE62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 et al. (2020) introduced the Retrieval-Augmented Generation (RAG) framework that integrates neural retrievers with generative models. This served as the core architectural foundation for our chatbot system.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Gao et al. (2023) demonstrated a 23% increase in accuracy when using RAG compared to standard large language models (LLMs). This validated our decision to adopt a RAG-based approach for fact verification.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Izacard and Grave (2021) showed the effectiveness of vector embeddings in enhancing semantic search, guiding our implementation using Sentence-BERT and FAISS for meaningful query-document matching.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 et al. (2023) emphasized that LLMs integrated with source retrieval can reduce hallucination by up to 42%. This directly supports our goal of generating accurate, grounded, and trustworthy responses.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3FC8FD-E28C-AFDE-B992-1E9AC440E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73B55D-28BA-0ADB-6872-F1AA82F2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8DFC9FC-82F2-9C3D-6A44-7B8D3820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B248-CDB7-728E-CB6B-C407577C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50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D01C-7E23-0470-0A71-09A143EE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D8856-D358-782A-A01C-C5CD06C2A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customizable chatbot system leveraging RAG architecture for news fact-checking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efficient retrieval mechanism using vector similarity search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user-friendly interface for both system training and querying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context-aware response generation using LLM integration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against baseline approaches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source attribution for response verification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879C7C-2A83-32C9-88D8-22D6FF81D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B7796-88AE-99BB-3FE0-C2AE3FB6F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1A553A9-43CB-9FFA-1133-A8DFC645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CA12B-16DF-72BF-6E1B-A84B3FB6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069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5EB9-B66A-A862-097D-FE6C0EFA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0B240-215E-7D69-AB46-7DD8D61B6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Sources: Our chatbot relies on high-quality, trusted fact-checking platforms to ensure the accuracy and credibility of information: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PolitiFact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detailed verdicts on political claims using their "Truth-O-Meter."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FactCheck.org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nonpartisan, nonprofit project that monitors the factual accuracy of political statements.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built a dedicated web scraping pipeline using Beautiful Soup and requests to extract structured data from fact-checking articles.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Fields: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Title – The main claim being verified (e.g., “Biden said the economy is booming”)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Description – Full fact-check content including analysis, reasoning, and ruling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Date – For assessing recency and relevance of the claim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URL – Direct link to the original article for transparency and traceability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6945F4-E75B-CE3C-6BC7-CBE430A8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4A0B08-E6DC-A8A4-1FEF-3BB87A5B3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5F1A4EA-4DAC-75D1-A3B0-D3F2F17D7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&amp; Collection Strategy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A2600-3A97-75DC-E393-1320EC8A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10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3C12-D1FA-3C56-71E1-211F68B0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6FEF3B8-CA2A-1CCE-8518-0C24F3641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1B3859-669F-A8D9-C33F-B2A979DA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0EE18E4-3DB8-BF9B-BCEE-B5FBE6C2B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F6276-810F-A1D9-BD90-445A183C1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BA746D-0998-11BC-A376-6862D410A8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088" y="1859339"/>
            <a:ext cx="1067796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Normalization &amp; Cleaning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Standardizes raw text by lowercasing, removing noise like HTML, punctuation, and boilerplate. This ensures uniform input for embeddings and improves retrieval accuracy.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 using Sentence-BERT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cleaned text into dense semantic vectors using pre-trained Sentence-BERT models. These embeddings capture context and meaning beyond simple keyword overlap.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 Indexing with FAISS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fast similarity search by organizing embeddings into efficient index structures. It allows real-time matching between user queries and stored fact-checks.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Metadata Storage for Source Attribution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article titles, URLs, and publication dates alongside embeddings. This enables transparency and traceability in chatbot responses.</a:t>
            </a:r>
          </a:p>
        </p:txBody>
      </p:sp>
    </p:spTree>
    <p:extLst>
      <p:ext uri="{BB962C8B-B14F-4D97-AF65-F5344CB8AC3E}">
        <p14:creationId xmlns:p14="http://schemas.microsoft.com/office/powerpoint/2010/main" val="379934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AD3-F4A0-1FE2-DC34-1041328F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4400" b="1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orkflow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CE2D8-D691-CC4A-47DF-17F97CBE0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11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5B83B8-3965-5640-82EE-4C3AA80B7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8E9C5C-DB47-52A2-4CF7-05FDFDE47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19" y="1450665"/>
            <a:ext cx="10718418" cy="5142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85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2962-74ED-2E85-A41B-C47701DF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3D01-93A6-BE7F-F0A0-27870614E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Model: Sentence-BERT (all-MiniLM-L6-v2)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 Based on a distilled BERT model with a Siamese network structure. Fine-tuned specifically for semantic textual similarity, paraphrase detection, and retrieval tasks.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Dimension: 384-D: Each input sentence is transformed into a 384-dimensional dense vector. Lower dimensionality ensures fast computations without major accuracy loss.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Dataset: Trained on 1+ billion sentence pairs from datasets like SNLI, STS, NLI, and more. Captures deep semantic relationships across a wide variety of topics.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Optimized for semantic search, question answering, and RAG tasks. Lightweight (~65MB) and fast, ideal for real-time applications with minimal latency.</a:t>
            </a:r>
          </a:p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9F778-A618-CF60-85FE-ABA75787E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9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66D63-E72B-8879-9AEC-A997F913C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560E-E9A2-EADE-B219-CFAA8FE42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F5B7B-915A-981E-02F0-8C7AA198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Database: FAISS (Facebook AI Similarity Search)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Overview: FAISS is an open-source library developed by Facebook AI Research. It supports high-speed vector similarity search over large-scale datasets.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Type: FlatIP (Inner Product): Uses brute-force search over all vectors, best for maximum accuracy in smaller-to-medium datasets. Inner Product + L2 normalization mimics cosine similarity effectively.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Method: Cosine Similarity with L2 Normalization: All vectors are L2-normalized to ensure cosine similarity-based comparisons. Ensures that semantically similar embeddings are ranked closer.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Achieves O(log n) retrieval time for large-scale indexes (with optimized indexes like HNSW or IVF). In our case, FlatIP provides precise matching with sub-second query latency.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F6B6-43F5-8BC1-9BCD-04C1CAE4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51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45D4-B710-D833-8A20-B4F2EE1D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45C4-E46F-9659-5A52-0DC3D5C0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00628-AF17-8318-F0C0-07E6C931A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Model: Google Gemini 1.5 Flash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Overview: Gemini 1.5 Flash is a lightweight, high-speed variant of Google's Gemini family. Designed for real-time applications, it balances speed, efficiency, and quality.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&amp; Context Window: Supports up to 32,000 tokens of context — ideal for grounding answers in long fact-checking passages. Enables multi-turn conversations, long document reasoning, and citation tracking in responses.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Control: We use a temperature of 0.2 to encourage factual, deterministic outputs. This minimizes hallucination and ensures responses are grounded in retrieved evidence.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API-Based Integration: Gemini is accessed via Google AI Studio API with easy integration into our RAG pipeline. Parameters such as temperature, top-p, max tokens, and safety settings are fully configurable.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EA4F-CC21-18F8-D774-BAADA89C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85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93BE-3501-5BC2-FBD1-25E9CBE7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23" y="161063"/>
            <a:ext cx="8370202" cy="926646"/>
          </a:xfrm>
        </p:spPr>
        <p:txBody>
          <a:bodyPr>
            <a:no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rgbClr val="079418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ECDC4-5CAE-DF0B-E6E3-5C930D60B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6" y="1518443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 Did President Donald Trump talk about the need for higher tariffs on imports of foreign goods because of a decline in American manufacturing?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Chatbot retrieved accurate context from trusted sources (factcheck)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Verdict-Legit News: True (100%)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includes rephrased fact-check, dates, and source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chatbot’s ability to verify claims with traceable evidence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A9FF8-49C4-AF55-F659-2B88753B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5CD662-797C-E775-00C4-8320E9D33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37A3A7-4909-7283-B1E1-E576A6D95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8" name="Content Placeholder 7" descr="A screenshot of a news&#10;&#10;AI-generated content may be incorrect.">
            <a:extLst>
              <a:ext uri="{FF2B5EF4-FFF2-40B4-BE49-F238E27FC236}">
                <a16:creationId xmlns:a16="http://schemas.microsoft.com/office/drawing/2014/main" id="{EE2E0A6B-9C5D-BC68-3629-5494EDC56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3188" y="1488133"/>
            <a:ext cx="6172200" cy="3872208"/>
          </a:xfrm>
        </p:spPr>
      </p:pic>
    </p:spTree>
    <p:extLst>
      <p:ext uri="{BB962C8B-B14F-4D97-AF65-F5344CB8AC3E}">
        <p14:creationId xmlns:p14="http://schemas.microsoft.com/office/powerpoint/2010/main" val="3538976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8BF8-B5DD-53DD-D224-F4DBF590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C741-B978-3657-6817-0EEF2BFF5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23" y="161063"/>
            <a:ext cx="8370202" cy="926646"/>
          </a:xfrm>
        </p:spPr>
        <p:txBody>
          <a:bodyPr>
            <a:no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rgbClr val="079418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E0D1D-2A87-8534-5F98-F487428D1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6" y="1518443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 To support his plan to increase tariffs, President Donald Trump has repeatedly said that the Canadian government charges U.S. farmers a 150% or 170% tariff on dairy products exported to Canada.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Chatbot retrieved accurate context from trusted sources (factcheck)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Verdict-Legit News: False (0%)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includes corrected fact-check with accurate percentages, dates, and source links.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77606-300A-B861-4398-EC8D93AC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09FBE9-E229-E994-5E5B-5AA2F3DE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1DC29B-969B-D097-D776-CD87EAEB7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7B3671-1243-46FE-FBBE-B7A0B300E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3188" y="1400997"/>
            <a:ext cx="6172200" cy="4046480"/>
          </a:xfrm>
        </p:spPr>
      </p:pic>
    </p:spTree>
    <p:extLst>
      <p:ext uri="{BB962C8B-B14F-4D97-AF65-F5344CB8AC3E}">
        <p14:creationId xmlns:p14="http://schemas.microsoft.com/office/powerpoint/2010/main" val="2762167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1933-246E-3D5B-2571-274AD22D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F664-908D-652B-1D76-97D264C8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23" y="161063"/>
            <a:ext cx="8370202" cy="926646"/>
          </a:xfrm>
        </p:spPr>
        <p:txBody>
          <a:bodyPr>
            <a:no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rgbClr val="079418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4939C-B0DE-325E-956D-950CB2A9C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6" y="1518443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 Attack Ad by Anti-tax Group Too Close for Dean's Comfort.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Chatbot tried retrieved accurate context from trusted sources (factcheck), but this data is backed from 2003 and is not present in our vector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Verdict-Legit News: Can’t verify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gives that it does not contain the complete information about the claim and also give any related articles from recent times based on semantic search.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0BBC1-A281-DBA3-4663-FA0C98BD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B6AAEF-A543-F4E6-C840-8C70A6D8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107931-B786-FB3E-3292-62FB6382D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Content Placeholder 10" descr="A screenshot of a email&#10;&#10;AI-generated content may be incorrect.">
            <a:extLst>
              <a:ext uri="{FF2B5EF4-FFF2-40B4-BE49-F238E27FC236}">
                <a16:creationId xmlns:a16="http://schemas.microsoft.com/office/drawing/2014/main" id="{3B027F59-D046-FCA0-8F6B-63DE71570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3188" y="1377840"/>
            <a:ext cx="6172200" cy="4092795"/>
          </a:xfrm>
        </p:spPr>
      </p:pic>
    </p:spTree>
    <p:extLst>
      <p:ext uri="{BB962C8B-B14F-4D97-AF65-F5344CB8AC3E}">
        <p14:creationId xmlns:p14="http://schemas.microsoft.com/office/powerpoint/2010/main" val="155951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D4546-05BD-2DCA-4382-BE1B77C1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AF51-5777-82C6-6B88-6ECB2C7DE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823" y="161063"/>
            <a:ext cx="8370202" cy="926646"/>
          </a:xfrm>
        </p:spPr>
        <p:txBody>
          <a:bodyPr>
            <a:noAutofit/>
          </a:bodyPr>
          <a:lstStyle/>
          <a:p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4400" b="1" dirty="0">
              <a:solidFill>
                <a:srgbClr val="079418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884914-6F64-C597-009A-FDC0DB505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6" y="1518443"/>
            <a:ext cx="3932237" cy="381158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 China tariffs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Chatbot retrieved accurate context from trusted sources (factcheck and politifact)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Verdict-Legit News: True (100%)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user input is incomplete, it gives current fact-check, dates, and source links about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chatbot’s ability to verify claims with traceable evidence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DF7ABF-C3B8-D62C-4050-EB486568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97826C-18E9-C942-96A7-78F7067A8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D45806-192B-162D-683D-3FE22DFE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B4CF6F-8BAB-91F2-71D1-9C75FF4FE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3188" y="1337661"/>
            <a:ext cx="6172200" cy="4173152"/>
          </a:xfrm>
        </p:spPr>
      </p:pic>
    </p:spTree>
    <p:extLst>
      <p:ext uri="{BB962C8B-B14F-4D97-AF65-F5344CB8AC3E}">
        <p14:creationId xmlns:p14="http://schemas.microsoft.com/office/powerpoint/2010/main" val="78222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30FC-1D92-79A5-3943-DF333F13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119D-CDCA-D66A-1179-05E0A39FE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87" y="1092185"/>
            <a:ext cx="10677965" cy="526492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News RAG Chatbot showcases a cutting-edge approach to information verification by integrating vector search for semantic understanding, LLMs for natural interaction, and source attribution for transparency.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semantic search, generative AI, and source attribution, it delivers responses that are both accurate and transparent.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bridges the gap between retrieval-based grounding and natural language generation, setting a new standard for trust in AI communication.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flexible architecture and user-driven design, it’s well-suited for custom domains, continuous scaling, and real-world deployment.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look ahead, ongoing innovations like multilingual support, real-time updates, and user feedback loops will further enhance its impact.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D59C15-65A3-B4F2-8E09-E7586A4E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EB402C-868C-83DE-8390-BDFED5643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7" y="6175035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3391FF8-D6E9-BB1A-3380-08CAA671D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pPr algn="l"/>
            <a:r>
              <a:rPr lang="en-US" sz="4400" b="1" i="0" dirty="0">
                <a:solidFill>
                  <a:srgbClr val="07941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A0A09-ACC7-7612-5787-39B3045B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60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01BF-C646-8001-77D8-2E0E27BC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BD11-FDAB-9D52-7C4D-3EB639520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89" y="1227952"/>
            <a:ext cx="10677965" cy="4402095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Lewis, P., et al. (2020). "Retrieval-Augmented Generation for Knowledge-Intensive NLP Tasks."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Gao, J., et al. (2023). "Retrieval-Augmented Generation for Large Language Models: A Survey." arXiv:2312.10997.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Izacard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Grave, E. (2021). "Leveraging Passage Retrieval with Generative Models for Open Domain Question Answering." EACL 2021.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Ngo, T., et al. (2023). "Fact-Checking with LLMs: An Analysis of Truth Verification." ACL 2023.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Reimers, N.,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(2019). "Sentence-BERT: Sentence Embeddings using Siamese BERT-Networks." EMNLP 2019.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Johnson, J., et al. (2021). "Billion-Scale Similarity Search with GPUs." IEEE Transactions on Big Data.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E81ECC-FBE1-5AD0-6B9C-800D7C53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E8DD73-F060-5F9A-E7E0-3B2D2CB7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EAE6E3-9D67-2EFD-011E-AA74FFDA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794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5C913-227C-FC37-424B-19DA3106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06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F402B760-09FB-7348-8C67-DCAC88C6CBC2}"/>
              </a:ext>
            </a:extLst>
          </p:cNvPr>
          <p:cNvSpPr/>
          <p:nvPr/>
        </p:nvSpPr>
        <p:spPr>
          <a:xfrm>
            <a:off x="8076008" y="1039839"/>
            <a:ext cx="3457401" cy="3457401"/>
          </a:xfrm>
          <a:prstGeom prst="ellipse">
            <a:avLst/>
          </a:prstGeom>
          <a:solidFill>
            <a:srgbClr val="74C4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5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0A4EF44-D1A3-E14E-BB09-389A47FCDC48}"/>
              </a:ext>
            </a:extLst>
          </p:cNvPr>
          <p:cNvSpPr/>
          <p:nvPr/>
        </p:nvSpPr>
        <p:spPr>
          <a:xfrm>
            <a:off x="6124379" y="1774456"/>
            <a:ext cx="2496674" cy="2496674"/>
          </a:xfrm>
          <a:prstGeom prst="ellipse">
            <a:avLst/>
          </a:prstGeom>
          <a:solidFill>
            <a:srgbClr val="007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3A2ACE-0D5E-384B-9A6E-674AEC575B68}"/>
              </a:ext>
            </a:extLst>
          </p:cNvPr>
          <p:cNvSpPr/>
          <p:nvPr/>
        </p:nvSpPr>
        <p:spPr>
          <a:xfrm>
            <a:off x="7512922" y="3762622"/>
            <a:ext cx="1946630" cy="1946630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B2AF749-8A90-084D-9E88-6F607893C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903" y="1310738"/>
            <a:ext cx="839610" cy="9274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9675027-528B-EB43-A286-5E8E7377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259" y="2179707"/>
            <a:ext cx="608650" cy="6723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CBEC96E-9508-B645-BDEB-A15BFDD9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13" y="4071080"/>
            <a:ext cx="447447" cy="4942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A7DCF1-6C16-374C-8F76-507B203E3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580" y="6329398"/>
            <a:ext cx="2358689" cy="1138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2A6CD8-29EB-AC48-A197-87E92D2FF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62" y="6016749"/>
            <a:ext cx="1599045" cy="6853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320F0C-3D09-44B1-A6D4-37BE1774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0F34E-4A79-A240-AEA8-3E29BB228B1B}" type="slidenum">
              <a:rPr lang="en-US" smtClean="0"/>
              <a:t>21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3A07544-8A84-4A57-8CC5-729BD652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89" y="365125"/>
            <a:ext cx="10677965" cy="7547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79418"/>
                </a:solidFill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0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1686</Words>
  <Application>Microsoft Office PowerPoint</Application>
  <PresentationFormat>Widescreen</PresentationFormat>
  <Paragraphs>184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Monaco</vt:lpstr>
      <vt:lpstr>Times New Roman</vt:lpstr>
      <vt:lpstr>Office Theme</vt:lpstr>
      <vt:lpstr>PowerPoint Presentation</vt:lpstr>
      <vt:lpstr>PowerPoint Presentation</vt:lpstr>
      <vt:lpstr>Contents</vt:lpstr>
      <vt:lpstr>Introduction</vt:lpstr>
      <vt:lpstr>Background</vt:lpstr>
      <vt:lpstr>Problem Statement</vt:lpstr>
      <vt:lpstr>Literature Review</vt:lpstr>
      <vt:lpstr>Objectives of the Study</vt:lpstr>
      <vt:lpstr>Data Sources &amp; Collection Strategy</vt:lpstr>
      <vt:lpstr>Data Processing</vt:lpstr>
      <vt:lpstr>Workflow</vt:lpstr>
      <vt:lpstr>Model Description</vt:lpstr>
      <vt:lpstr>Model Description</vt:lpstr>
      <vt:lpstr>Model Description</vt:lpstr>
      <vt:lpstr>Results</vt:lpstr>
      <vt:lpstr>Results</vt:lpstr>
      <vt:lpstr>Results</vt:lpstr>
      <vt:lpstr>Results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Clayton</dc:creator>
  <cp:lastModifiedBy>Aravind Siddhanthi</cp:lastModifiedBy>
  <cp:revision>47</cp:revision>
  <cp:lastPrinted>2019-08-23T20:44:22Z</cp:lastPrinted>
  <dcterms:created xsi:type="dcterms:W3CDTF">2019-07-08T18:39:15Z</dcterms:created>
  <dcterms:modified xsi:type="dcterms:W3CDTF">2025-04-20T22:58:23Z</dcterms:modified>
</cp:coreProperties>
</file>